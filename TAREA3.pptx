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8" r:id="rId2"/>
    <p:sldId id="258" r:id="rId3"/>
    <p:sldId id="259" r:id="rId4"/>
    <p:sldId id="257" r:id="rId5"/>
    <p:sldId id="260" r:id="rId6"/>
    <p:sldId id="264" r:id="rId7"/>
    <p:sldId id="266" r:id="rId8"/>
    <p:sldId id="267" r:id="rId9"/>
    <p:sldId id="262" r:id="rId10"/>
    <p:sldId id="263" r:id="rId11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5510"/>
  </p:normalViewPr>
  <p:slideViewPr>
    <p:cSldViewPr snapToGrid="0" snapToObjects="1">
      <p:cViewPr varScale="1">
        <p:scale>
          <a:sx n="95" d="100"/>
          <a:sy n="95" d="100"/>
        </p:scale>
        <p:origin x="17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105E98-FFBD-0144-BF8A-972F413685C7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1D7A85-3234-2845-A3D9-88D91527219B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782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Nota:  Las </a:t>
            </a:r>
            <a:r>
              <a:rPr lang="en-US" dirty="0" err="1"/>
              <a:t>justificaciones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gráficos</a:t>
            </a:r>
            <a:r>
              <a:rPr lang="en-US" dirty="0"/>
              <a:t> </a:t>
            </a:r>
            <a:r>
              <a:rPr lang="en-US" dirty="0" err="1"/>
              <a:t>está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nota del </a:t>
            </a:r>
            <a:r>
              <a:rPr lang="en-US" dirty="0" err="1"/>
              <a:t>presentador</a:t>
            </a:r>
            <a:r>
              <a:rPr lang="en-US" dirty="0"/>
              <a:t>,  </a:t>
            </a:r>
            <a:r>
              <a:rPr lang="en-US" dirty="0" err="1"/>
              <a:t>por</a:t>
            </a:r>
            <a:r>
              <a:rPr lang="en-US" dirty="0"/>
              <a:t> favor </a:t>
            </a:r>
            <a:r>
              <a:rPr lang="en-US"/>
              <a:t>considerar.</a:t>
            </a:r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7A85-3234-2845-A3D9-88D91527219B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84387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7A85-3234-2845-A3D9-88D91527219B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12135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Este es el primer paso del análisis: entender si la internacionalización del contenido es un fenómeno distribuido o concentrado en ciertas industrias. </a:t>
            </a:r>
          </a:p>
          <a:p>
            <a:r>
              <a:rPr lang="es-CL" dirty="0"/>
              <a:t>Detectar estas concentraciones nos permite evaluar la probabilidad de que un título tenga exposición fuera de su mercado original.</a:t>
            </a:r>
          </a:p>
          <a:p>
            <a:endParaRPr lang="es-CL" dirty="0"/>
          </a:p>
          <a:p>
            <a:r>
              <a:rPr lang="es-CL" dirty="0"/>
              <a:t>Tipo de gráfico: scatterplot → permite mostrar densidad, variación y la presencia de outliers sin distorsión.</a:t>
            </a:r>
            <a:br>
              <a:rPr lang="es-CL" dirty="0"/>
            </a:br>
            <a:endParaRPr lang="es-CL" dirty="0"/>
          </a:p>
          <a:p>
            <a:r>
              <a:rPr lang="es-CL" dirty="0"/>
              <a:t>Razón de diseño: el color por país principal facilita identificar patrones de concentración geográfica en producciones multinacionales.</a:t>
            </a:r>
            <a:br>
              <a:rPr lang="es-CL" dirty="0"/>
            </a:br>
            <a:endParaRPr lang="es-CL" dirty="0"/>
          </a:p>
          <a:p>
            <a:r>
              <a:rPr lang="es-CL" dirty="0"/>
              <a:t>Canal visual dominante: posición en el eje X → compara con precisión el número de países involucrados.</a:t>
            </a:r>
          </a:p>
          <a:p>
            <a:endParaRPr lang="es-CL" dirty="0"/>
          </a:p>
          <a:p>
            <a:r>
              <a:rPr lang="es-CL" dirty="0"/>
              <a:t>Elección sobre alternativas: un boxplot perdería el detalle de la distribución por país; un histograma no permitiría distinguir orígenes; este formato preserva granularidad y patrones geográficos.</a:t>
            </a:r>
            <a:br>
              <a:rPr lang="es-CL" dirty="0"/>
            </a:br>
            <a:endParaRPr lang="es-CL" dirty="0"/>
          </a:p>
          <a:p>
            <a:r>
              <a:rPr lang="es-CL" dirty="0"/>
              <a:t>Reducción de ruido: paleta suave, ejes limpios, leyenda ordenada.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7A85-3234-2845-A3D9-88D91527219B}" type="slidenum">
              <a:rPr lang="es-CL" smtClean="0"/>
              <a:t>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17098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Establece que la globalización del contenido no es un fenómeno anecdótico, sino una tendencia clara, creciente y estadísticamente robusta. Esto valida que desarrollar un modelo predictivo para identificar títulos de alcance global es relevante y accionable.</a:t>
            </a:r>
          </a:p>
          <a:p>
            <a:endParaRPr lang="es-CL" dirty="0"/>
          </a:p>
          <a:p>
            <a:r>
              <a:rPr lang="es-CL" dirty="0"/>
              <a:t>Tipo: time-series line chart → único apto para mostrar tendencia.</a:t>
            </a:r>
          </a:p>
          <a:p>
            <a:r>
              <a:rPr lang="es-CL" dirty="0"/>
              <a:t>Banda de confianza → comunica incertidumbre y precisión del estimador.</a:t>
            </a:r>
            <a:br>
              <a:rPr lang="es-CL" dirty="0"/>
            </a:br>
            <a:r>
              <a:rPr lang="es-CL" dirty="0"/>
              <a:t>Bootstrapping → método no paramétrico ideal para proporciones de catálogos no uniformes.</a:t>
            </a:r>
          </a:p>
          <a:p>
            <a:r>
              <a:rPr lang="es-CL" dirty="0"/>
              <a:t>Proporciones normalizadas → evita sesgo por crecimiento absoluto del catálogo.</a:t>
            </a:r>
          </a:p>
          <a:p>
            <a:r>
              <a:rPr lang="es-CL" dirty="0"/>
              <a:t>Colores sobrios, contraste alto → lectura óptima, estándar consultoría.</a:t>
            </a:r>
          </a:p>
          <a:p>
            <a:r>
              <a:rPr lang="es-CL" dirty="0"/>
              <a:t>Eliminación de gridlines → reduce ruido y mejora la relación señal–ruido.</a:t>
            </a:r>
            <a:br>
              <a:rPr lang="es-CL" dirty="0"/>
            </a:b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7A85-3234-2845-A3D9-88D91527219B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1614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s-CL" dirty="0"/>
            </a:br>
            <a:r>
              <a:rPr lang="es-CL" dirty="0"/>
              <a:t>Comparar medidas robustas (mediana, IQR) y detectar valores extremos sin asumir normalidad.</a:t>
            </a:r>
          </a:p>
          <a:p>
            <a:endParaRPr lang="es-CL" dirty="0"/>
          </a:p>
          <a:p>
            <a:r>
              <a:rPr lang="es-CL" dirty="0"/>
              <a:t>Boxplot comparativo → resumen estadístico directo.</a:t>
            </a:r>
          </a:p>
          <a:p>
            <a:endParaRPr lang="es-CL" dirty="0"/>
          </a:p>
          <a:p>
            <a:r>
              <a:rPr lang="es-CL" dirty="0"/>
              <a:t>Reduce la complejidad del histograma y permite una lectura rápida de diferencias estructurales.</a:t>
            </a:r>
          </a:p>
          <a:p>
            <a:endParaRPr lang="es-CL" dirty="0"/>
          </a:p>
          <a:p>
            <a:r>
              <a:rPr lang="es-CL" dirty="0"/>
              <a:t>Canal visual dominante:</a:t>
            </a:r>
            <a:br>
              <a:rPr lang="es-CL" dirty="0"/>
            </a:br>
            <a:r>
              <a:rPr lang="es-CL" dirty="0"/>
              <a:t>Posición vertical de la mediana y altura de la caja → comparación precisa.</a:t>
            </a:r>
          </a:p>
          <a:p>
            <a:endParaRPr lang="es-CL" dirty="0"/>
          </a:p>
          <a:p>
            <a:r>
              <a:rPr lang="es-CL" dirty="0"/>
              <a:t>Un promedio ocultaría asimetrías. El boxplot conserva robustez ante outliers.</a:t>
            </a:r>
          </a:p>
          <a:p>
            <a:endParaRPr lang="es-CL" dirty="0"/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7A85-3234-2845-A3D9-88D91527219B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3524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Este paso del análisis busca evaluar si el lenguaje de las descripciones contiene señales tempranas del alcance global de un título.</a:t>
            </a:r>
            <a:br>
              <a:rPr lang="es-CL" dirty="0"/>
            </a:br>
            <a:r>
              <a:rPr lang="es-CL" dirty="0"/>
              <a:t>A diferencia de variables estructurales, el texto está disponible antes del lanzamiento, lo que lo convierte en una señal particularmente valiosa para anticipación.</a:t>
            </a:r>
          </a:p>
          <a:p>
            <a:endParaRPr lang="es-CL" dirty="0"/>
          </a:p>
          <a:p>
            <a:r>
              <a:rPr lang="es-CL" dirty="0"/>
              <a:t>Tipo de gráfico: visualización de importancia léxica / términos destacados → permite identificar qué grupos de palabras están asociados a mayor o menor proyección internacional.</a:t>
            </a:r>
          </a:p>
          <a:p>
            <a:endParaRPr lang="es-CL" dirty="0"/>
          </a:p>
          <a:p>
            <a:r>
              <a:rPr lang="es-CL" dirty="0"/>
              <a:t>Razón de diseño: se prioriza una lectura semántica clara por sobre métricas técnicas, facilitando la interpretación para audiencias no técnicas.</a:t>
            </a:r>
          </a:p>
          <a:p>
            <a:endParaRPr lang="es-CL" dirty="0"/>
          </a:p>
          <a:p>
            <a:r>
              <a:rPr lang="es-CL" dirty="0"/>
              <a:t>Canal visual dominante: tamaño / posición de los términos → permite comparar rápidamente qué conceptos destacan en títulos con mayor alcance global.</a:t>
            </a:r>
          </a:p>
          <a:p>
            <a:endParaRPr lang="es-CL" dirty="0"/>
          </a:p>
          <a:p>
            <a:r>
              <a:rPr lang="es-CL" dirty="0"/>
              <a:t>Elección sobre alternativas: tablas de coeficientes o pesos numéricos aumentarían la carga cognitiva sin aportar claridad narrativa; un gráfico explicativo resume patrones de lenguaje de forma más intuitiva.</a:t>
            </a:r>
          </a:p>
          <a:p>
            <a:endParaRPr lang="es-CL" dirty="0"/>
          </a:p>
          <a:p>
            <a:r>
              <a:rPr lang="es-CL" dirty="0"/>
              <a:t>Reducción de ruido: selección de términos más relevantes, eliminación de palabras irrelevantes y uso de una paleta limitada sin codificaciones innecesarias.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7A85-3234-2845-A3D9-88D91527219B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063947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Este paso del análisis sintetiza todos los hallazgos en una única visualización.</a:t>
            </a:r>
            <a:br>
              <a:rPr lang="es-CL" dirty="0"/>
            </a:br>
            <a:endParaRPr lang="es-CL" dirty="0"/>
          </a:p>
          <a:p>
            <a:r>
              <a:rPr lang="es-CL" dirty="0"/>
              <a:t>La distribución del score resume cómo las señales textuales y estructurales se combinan para diferenciar títulos según su potencial global.</a:t>
            </a:r>
          </a:p>
          <a:p>
            <a:endParaRPr lang="es-CL" dirty="0"/>
          </a:p>
          <a:p>
            <a:r>
              <a:rPr lang="es-CL" dirty="0"/>
              <a:t>Tipo de gráfico: distribución de scores → permite evaluar separación entre clases sin recurrir a métricas técnicas.</a:t>
            </a:r>
          </a:p>
          <a:p>
            <a:endParaRPr lang="es-CL" dirty="0"/>
          </a:p>
          <a:p>
            <a:r>
              <a:rPr lang="es-CL" dirty="0"/>
              <a:t>Razón de diseño: una visualización continua facilita entender el comportamiento global del modelo y su capacidad discriminativa.</a:t>
            </a:r>
          </a:p>
          <a:p>
            <a:endParaRPr lang="es-CL" dirty="0"/>
          </a:p>
          <a:p>
            <a:r>
              <a:rPr lang="es-CL" dirty="0"/>
              <a:t>Canal visual dominante: posición en el eje X → compara directamente el nivel relativo de potencial global asignado a cada título.</a:t>
            </a:r>
          </a:p>
          <a:p>
            <a:endParaRPr lang="es-CL" dirty="0"/>
          </a:p>
          <a:p>
            <a:r>
              <a:rPr lang="es-CL" dirty="0"/>
              <a:t>Elección sobre alternativas: mostrar métricas adicionales no aportaría síntesis; un diagrama conceptual perdería el respaldo cuantitativo.</a:t>
            </a:r>
          </a:p>
          <a:p>
            <a:r>
              <a:rPr lang="es-CL" dirty="0"/>
              <a:t>Reducción de ruido: dos colores, ejes simples y ausencia de anotaciones técnicas.</a:t>
            </a:r>
          </a:p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7A85-3234-2845-A3D9-88D91527219B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1806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Este gráfico revela la esencia del modelo: las señales textuales en la descripción de un título contienen patrones reconocibles que permiten anticipar su potencial global. Entender estas señales ayuda a los equipos de adquisición, marketing y contenido a identificar historias con probabilidad de resonar en múltiples mercados antes de invertir en ellas.</a:t>
            </a:r>
          </a:p>
          <a:p>
            <a:endParaRPr lang="es-CL" dirty="0"/>
          </a:p>
          <a:p>
            <a:r>
              <a:rPr lang="es-CL" dirty="0"/>
              <a:t>La regresión logística entrega coeficientes interpretables que permiten estimar la dirección y magnitud del efecto de cada palabra.</a:t>
            </a:r>
            <a:br>
              <a:rPr lang="es-CL" dirty="0"/>
            </a:br>
            <a:endParaRPr lang="es-CL" dirty="0"/>
          </a:p>
          <a:p>
            <a:r>
              <a:rPr lang="es-CL" dirty="0"/>
              <a:t>Se utiliza TF-IDF para reducir el peso de términos frecuentes y resaltar aquellos más informativos.</a:t>
            </a:r>
            <a:br>
              <a:rPr lang="es-CL" dirty="0"/>
            </a:br>
            <a:endParaRPr lang="es-CL" dirty="0"/>
          </a:p>
          <a:p>
            <a:r>
              <a:rPr lang="es-CL" dirty="0"/>
              <a:t>Un gráfico divergente permite distinguir claramente predictores positivos (potencial global) y negativos (no global).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1D7A85-3234-2845-A3D9-88D91527219B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44927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435ED-2D11-FF48-A409-A8A42FBFD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42D41A-F298-C844-BFCA-0C2CBE6FA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1054F01-BBF0-0746-978E-774F669D2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407C7B-F90D-DE49-BACD-6B6E13EA2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08DBDA-60B9-9B40-BBCA-4DD47A416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774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675A63-FCD6-3446-9C62-8A636B189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ABBEAA-9006-F549-8A3D-C769250A0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5164C9-A88B-714A-ACFF-A8CAEAFFB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9CB629-5FF7-4743-B9E0-4E80A0D0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F93CFC-D8F6-234D-831E-BB983AE4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2372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95ADA-8DC6-3B46-A1F5-284D57263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5A95D87-4CD5-6E4F-8B69-DC274E594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535811-E4E1-D141-A996-7D353D991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5A4BAD-BB0A-FF48-B62C-DEE947450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31BCA0-6027-6443-A591-CD4F391A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526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7EBED5-832C-DE45-B3E1-1EE2CF169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7D402A-21C5-1641-AF59-9128622A0F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8BAEB03-68BF-D946-A853-94FCEBF64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8064C2-C92A-4548-954D-1C531A9B4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A7BD8EB-B4D9-3349-98E2-C0B647B4E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2135D3-3DA4-434F-AAE0-6B9074C0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8180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4FBA71-2D63-E644-B2A6-C57D4CDC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0139C3A-AACF-6145-B803-2F00F6F63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1F6CD3-22F4-5842-B1B8-7C7ECAE64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CA6609B-22ED-CF45-A1C8-F481FE05F5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24C97C7-B9C4-114B-A3FD-2278AC08B7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A32B807-D716-DC46-9EA6-E40F8B7D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9FADD34-1E42-6843-B337-4EDAE76CF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8BE2D78-2CFE-E54E-B2ED-CB1518909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04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A8A61-D927-484F-B621-0FBA0FA08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C0441DA-DAA2-0B49-A27D-1DDE87AD4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CA394FD-7EF3-B247-AC97-D53D215D5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1E2CDD5-3417-F842-A43F-0F33C8A7C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5718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23F5CB-CF8B-F746-9C28-787D6192C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65A289D-A0AF-7B4C-AC07-77A4855B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57E2170-1B72-BF4F-A8EA-F1F27A65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1084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781B1-FCB0-C941-B19D-C4D4B6D9B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B5C96F-3B5A-4745-ACEB-5464AE46A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B5C337F-540C-6D43-9A73-484C4BB1D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3DD5FA4-26D3-C244-BD82-FE611CBE7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C1A3BD0-B877-6246-8BEB-83B9E8E03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CCDB6E-0F53-C347-A902-E8775118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20968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A18513-617F-634B-AC97-E47FD5B3D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29B2586-CB02-5946-A00F-0805F86E5C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5B1EDA-BE28-A448-97AE-67DD414F0D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63E1C8E-0BBD-0E47-B77E-36FD7AB16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8400233-1355-0E47-8784-162D5698A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A83403-F906-8D4C-A38A-B13A8C08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86385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3EC1E-F088-0A4C-8433-44AB822FB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A32DA5-CC9A-BC49-8F65-3FAB62F711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BEC186-F859-104A-9639-D4AB2DC1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258E2B-48AC-EB49-8311-340320B37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4A265F-706C-C240-B1F5-2466716B1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14496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9855810-AA61-0141-8D96-52F7D2DD5A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9329423-83F7-A74C-9489-8C2ECDFAF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D84BE1-F717-144F-B070-B6C0CD6B1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CB03DEC-8591-414E-82A3-F5CF23771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6A092D-CFF9-0142-B8C3-D71F2903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4660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CD519DC-64DE-944B-A540-BFD71F4B5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7E743D6-3B96-5C4B-8469-054273C9D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88007B-7180-464C-8978-0676F59E6E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9B223-CE6C-7049-AE6F-619F621B6831}" type="datetimeFigureOut">
              <a:rPr lang="es-CL" smtClean="0"/>
              <a:t>11-12-25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06E5DD-14D8-264B-8D82-C0238AC3C1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6546CA-FF1A-294A-856C-45EBF7F15C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4107E8-C3B3-0C44-A367-933937323D96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18931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56B38E6-1E04-749F-55F0-CD0DFDB0AB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2493" y="1304565"/>
            <a:ext cx="6629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en-US" b="1" dirty="0"/>
          </a:p>
          <a:p>
            <a:pPr algn="ctr" eaLnBrk="1" hangingPunct="1"/>
            <a:r>
              <a:rPr lang="es-CL" b="1" dirty="0"/>
              <a:t>¿Qué hace que un título en netflix explote globalmente? </a:t>
            </a:r>
            <a:endParaRPr lang="es-ES_tradnl" altLang="es-CL" dirty="0">
              <a:solidFill>
                <a:srgbClr val="262626"/>
              </a:solidFill>
              <a:cs typeface="Arial" panose="020B0604020202020204" pitchFamily="34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A2F31C0-761F-2DEC-1534-1DEB8BB09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973" y="202829"/>
            <a:ext cx="3974112" cy="7303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49B14893-829E-6D44-5B88-DF23C071B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444888"/>
            <a:ext cx="12192000" cy="269875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E62011C-37D6-062E-DE16-492FBB4E86C6}"/>
              </a:ext>
            </a:extLst>
          </p:cNvPr>
          <p:cNvSpPr txBox="1"/>
          <p:nvPr/>
        </p:nvSpPr>
        <p:spPr>
          <a:xfrm>
            <a:off x="-15204" y="4816247"/>
            <a:ext cx="12207204" cy="2041753"/>
          </a:xfrm>
          <a:prstGeom prst="rect">
            <a:avLst/>
          </a:prstGeom>
          <a:solidFill>
            <a:srgbClr val="1959F1">
              <a:alpha val="34431"/>
            </a:srgbClr>
          </a:solidFill>
        </p:spPr>
        <p:txBody>
          <a:bodyPr wrap="square" rtlCol="0">
            <a:spAutoFit/>
          </a:bodyPr>
          <a:lstStyle/>
          <a:p>
            <a:endParaRPr lang="es-C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5F607-28F6-FFCE-F72A-533E430044A3}"/>
              </a:ext>
            </a:extLst>
          </p:cNvPr>
          <p:cNvSpPr txBox="1"/>
          <p:nvPr/>
        </p:nvSpPr>
        <p:spPr>
          <a:xfrm>
            <a:off x="3520260" y="4354751"/>
            <a:ext cx="61055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1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Magíster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en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Data Science – 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Facultad</a:t>
            </a:r>
            <a:r>
              <a:rPr lang="en-US" b="1" i="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de Ingeniería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6CBC54-E1C2-8634-350B-4C09263535A3}"/>
              </a:ext>
            </a:extLst>
          </p:cNvPr>
          <p:cNvSpPr txBox="1"/>
          <p:nvPr/>
        </p:nvSpPr>
        <p:spPr>
          <a:xfrm>
            <a:off x="130628" y="5001250"/>
            <a:ext cx="61039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 err="1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Profesor</a:t>
            </a:r>
            <a:r>
              <a:rPr lang="en-US" b="1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:</a:t>
            </a:r>
            <a:r>
              <a:rPr lang="en-US" b="0" i="0" dirty="0">
                <a:solidFill>
                  <a:schemeClr val="bg1"/>
                </a:solidFill>
                <a:effectLst/>
                <a:latin typeface="Helvetica Neue" panose="02000503000000020004" pitchFamily="2" charset="0"/>
              </a:rPr>
              <a:t> Carlos Elías Pérez Pizarro</a:t>
            </a:r>
          </a:p>
          <a:p>
            <a:r>
              <a:rPr lang="en-US" b="1" dirty="0" err="1">
                <a:solidFill>
                  <a:schemeClr val="bg1"/>
                </a:solidFill>
                <a:latin typeface="Helvetica Neue" panose="02000503000000020004" pitchFamily="2" charset="0"/>
              </a:rPr>
              <a:t>Alumnos</a:t>
            </a: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</a:rPr>
              <a:t>: Vanessa </a:t>
            </a:r>
            <a:r>
              <a:rPr lang="en-US" dirty="0" err="1">
                <a:solidFill>
                  <a:schemeClr val="bg1"/>
                </a:solidFill>
                <a:latin typeface="Helvetica Neue" panose="02000503000000020004" pitchFamily="2" charset="0"/>
              </a:rPr>
              <a:t>Camaggi</a:t>
            </a:r>
            <a:br>
              <a:rPr lang="en-US" dirty="0">
                <a:solidFill>
                  <a:schemeClr val="bg1"/>
                </a:solidFill>
                <a:latin typeface="Helvetica Neue" panose="02000503000000020004" pitchFamily="2" charset="0"/>
              </a:rPr>
            </a:b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</a:rPr>
              <a:t>                 Miguel Angel Segovia</a:t>
            </a:r>
            <a:br>
              <a:rPr lang="en-US" dirty="0">
                <a:solidFill>
                  <a:schemeClr val="bg1"/>
                </a:solidFill>
                <a:latin typeface="Helvetica Neue" panose="02000503000000020004" pitchFamily="2" charset="0"/>
              </a:rPr>
            </a:br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</a:rPr>
              <a:t>	   Adrian Espinoza</a:t>
            </a:r>
          </a:p>
          <a:p>
            <a:r>
              <a:rPr lang="en-US" dirty="0">
                <a:solidFill>
                  <a:schemeClr val="bg1"/>
                </a:solidFill>
                <a:latin typeface="Helvetica Neue" panose="02000503000000020004" pitchFamily="2" charset="0"/>
              </a:rPr>
              <a:t>	   Ricardo Castro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FDCDAA7-18CE-C845-808B-8328E0D9BF12}"/>
              </a:ext>
            </a:extLst>
          </p:cNvPr>
          <p:cNvSpPr/>
          <p:nvPr/>
        </p:nvSpPr>
        <p:spPr>
          <a:xfrm>
            <a:off x="2909193" y="250489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L" b="1" dirty="0"/>
              <a:t>Señales predictivas en el catálogo de Netflix usando Machine Learning</a:t>
            </a:r>
            <a:endParaRPr lang="es-CL" dirty="0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EBBFF05-F4D9-3140-BB5E-5DC5E594FBB2}"/>
              </a:ext>
            </a:extLst>
          </p:cNvPr>
          <p:cNvSpPr/>
          <p:nvPr/>
        </p:nvSpPr>
        <p:spPr>
          <a:xfrm>
            <a:off x="3186544" y="3152226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s-CL" sz="1400" b="1" dirty="0"/>
              <a:t>Dataset: Netflix Movies &amp; TV Titles Dataset (n ≈ 6234)</a:t>
            </a:r>
          </a:p>
          <a:p>
            <a:pPr algn="ctr"/>
            <a:r>
              <a:rPr lang="es-CL" sz="1400" b="1" dirty="0"/>
              <a:t>Framework narrativo: Setup - Insight - Implicación </a:t>
            </a:r>
          </a:p>
        </p:txBody>
      </p:sp>
    </p:spTree>
    <p:extLst>
      <p:ext uri="{BB962C8B-B14F-4D97-AF65-F5344CB8AC3E}">
        <p14:creationId xmlns:p14="http://schemas.microsoft.com/office/powerpoint/2010/main" val="2703083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002D13D-392A-4B40-8F21-C715F0D04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A25F121-8500-8043-A701-0E2616B53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353" y="497937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s-CL" dirty="0">
                <a:solidFill>
                  <a:schemeClr val="bg1"/>
                </a:solidFill>
              </a:rPr>
              <a:t>“Los títulos con mayor potencial global comparten patrones textuales, geográficos y temáticos que pueden anticiparse con modelos de </a:t>
            </a:r>
            <a:r>
              <a:rPr lang="es-CL" dirty="0"/>
              <a:t>Machine Learning.”</a:t>
            </a:r>
          </a:p>
        </p:txBody>
      </p:sp>
    </p:spTree>
    <p:extLst>
      <p:ext uri="{BB962C8B-B14F-4D97-AF65-F5344CB8AC3E}">
        <p14:creationId xmlns:p14="http://schemas.microsoft.com/office/powerpoint/2010/main" val="3643083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49564A-DA8B-A242-811A-837252A8D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¿Por qué algunos títulos se vuelven globales y otros no?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94CB8B-9DBE-3244-8F0B-A0165ECDA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0" y="2140902"/>
            <a:ext cx="676656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CL" dirty="0"/>
              <a:t>Netflix opera uno de los catálogos audiovisuales más diversos del mundo; sin embargo, solo una fracción de sus títulos logra trascender su país de origen. </a:t>
            </a:r>
          </a:p>
          <a:p>
            <a:pPr marL="0" indent="0">
              <a:buNone/>
            </a:pPr>
            <a:r>
              <a:rPr lang="es-CL" dirty="0"/>
              <a:t>Comprender qué factores permiten anticipar un alcance global resulta clave para optimizar decisiones de adquisición, promoción y posicionamiento de contenido. </a:t>
            </a:r>
          </a:p>
          <a:p>
            <a:pPr marL="0" indent="0">
              <a:buNone/>
            </a:pPr>
            <a:r>
              <a:rPr lang="es-CL" dirty="0"/>
              <a:t>Para abordar este desafío, analizamos patrones en descripciones, países de producción, géneros y atributos textuales del catálogo, y entrenamos un modelo supervisado capaz de clasificar el “potencial global” de un título antes de su lanzamiento.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CC26CF2-169D-0A41-8052-7A33DFCBE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0" y="1690688"/>
            <a:ext cx="4232910" cy="423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815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8281B-8D45-4C46-B3AD-F1C91D66B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84" y="385430"/>
            <a:ext cx="11357812" cy="1325563"/>
          </a:xfrm>
        </p:spPr>
        <p:txBody>
          <a:bodyPr>
            <a:normAutofit fontScale="90000"/>
          </a:bodyPr>
          <a:lstStyle/>
          <a:p>
            <a:r>
              <a:rPr lang="es-CL" dirty="0"/>
              <a:t>EDA: La diversidad de países en una producción revela qué industrias lideran el contenido internacional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163C9DD-AB46-684A-BB64-AF87F5091AF5}"/>
              </a:ext>
            </a:extLst>
          </p:cNvPr>
          <p:cNvSpPr/>
          <p:nvPr/>
        </p:nvSpPr>
        <p:spPr>
          <a:xfrm>
            <a:off x="144483" y="5964431"/>
            <a:ext cx="119030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/>
              <a:t>“Los títulos con más países involucrados se originan principalmente en Estados Unidos, Reino Unido y Canadá, lo que confirma que las industrias audiovisuales de mayor escala son también las que lideran las coproducciones internacionales y amplifican su alcance global.”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5EF8BD6-D41E-8841-9183-5B48A29FE8A5}"/>
              </a:ext>
            </a:extLst>
          </p:cNvPr>
          <p:cNvSpPr/>
          <p:nvPr/>
        </p:nvSpPr>
        <p:spPr>
          <a:xfrm>
            <a:off x="144483" y="1957540"/>
            <a:ext cx="53333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dirty="0"/>
              <a:t>Gráfico: Scatterplot por número de países involucrados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4AA22D0-56BB-7641-944F-E8BB7FB17F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550" y="2371807"/>
            <a:ext cx="7650480" cy="359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376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8221C-B7C5-734F-9C2B-CAA767523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073" y="0"/>
            <a:ext cx="10515600" cy="1325563"/>
          </a:xfrm>
        </p:spPr>
        <p:txBody>
          <a:bodyPr>
            <a:normAutofit/>
          </a:bodyPr>
          <a:lstStyle/>
          <a:p>
            <a:r>
              <a:rPr lang="es-CL" sz="3400" dirty="0"/>
              <a:t>EDA 2: </a:t>
            </a:r>
            <a:r>
              <a:rPr lang="es-CL" sz="3600" dirty="0"/>
              <a:t>La internacionalización no solo existe: se intensifica con el tiempo.</a:t>
            </a:r>
            <a:endParaRPr lang="es-CL" sz="34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8492E11-9BB9-5641-A406-943A13EFD877}"/>
              </a:ext>
            </a:extLst>
          </p:cNvPr>
          <p:cNvSpPr/>
          <p:nvPr/>
        </p:nvSpPr>
        <p:spPr>
          <a:xfrm>
            <a:off x="900362" y="5921413"/>
            <a:ext cx="102950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/>
              <a:t>“La proporción de títulos con coproducción multinacional aumenta de manera sostenida y con alta estabilidad estadística, confirmando que la internacionalización es una tendencia estructural del catálogo.”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5B0D128-63BD-DD4F-A6BA-DF52E4869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73" y="942598"/>
            <a:ext cx="10165080" cy="497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753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CA2117-52CF-D443-BC4B-8DEF8EAA2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CL" dirty="0"/>
              <a:t>EDAb 3 Los patrones existen; la pregunta ahora es si pueden usarse para anticipar el éxito global.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DA2F923-BF16-D74B-9D77-EF78EFC46D04}"/>
              </a:ext>
            </a:extLst>
          </p:cNvPr>
          <p:cNvSpPr/>
          <p:nvPr/>
        </p:nvSpPr>
        <p:spPr>
          <a:xfrm>
            <a:off x="1302067" y="5837624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/>
              <a:t>Las series presentan mayor variabilidad y presencia de outliers, mientras que las películas muestran una duración más estable y concentrada.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63C4AD5-9A9B-8048-BDEA-BD5F6D922254}"/>
              </a:ext>
            </a:extLst>
          </p:cNvPr>
          <p:cNvSpPr/>
          <p:nvPr/>
        </p:nvSpPr>
        <p:spPr>
          <a:xfrm>
            <a:off x="8275320" y="3394823"/>
            <a:ext cx="32613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i="1" dirty="0"/>
              <a:t>“La duración no solo difiere en promedio, sino en variabilidad y estabilidad según el tipo de contenido.”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1068B11-DFB8-E14C-91BC-970FD9837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46" y="1600076"/>
            <a:ext cx="7255170" cy="4328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7536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099D0-3933-964A-A975-12D56391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17525"/>
            <a:ext cx="10515600" cy="1325563"/>
          </a:xfrm>
        </p:spPr>
        <p:txBody>
          <a:bodyPr>
            <a:noAutofit/>
          </a:bodyPr>
          <a:lstStyle/>
          <a:p>
            <a:r>
              <a:rPr lang="es-CL" sz="3200" dirty="0"/>
              <a:t>El lenguaje no es neutral: los términos utilizados en la descripción están estadísticamente asociados a una mayor probabilidad de alcance global.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7C37DBE-7CDE-8746-AD5F-32E10E88B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613428"/>
            <a:ext cx="11109960" cy="298905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96A1FC52-199E-6B45-9087-44484F9D22BC}"/>
              </a:ext>
            </a:extLst>
          </p:cNvPr>
          <p:cNvSpPr/>
          <p:nvPr/>
        </p:nvSpPr>
        <p:spPr>
          <a:xfrm>
            <a:off x="2179320" y="5757390"/>
            <a:ext cx="84429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/>
              <a:t>El modelo distingue de forma consistente entre títulos con y sin potencial global, mostrando una alta capacidad discriminativa sin depender del azar.</a:t>
            </a:r>
          </a:p>
        </p:txBody>
      </p:sp>
    </p:spTree>
    <p:extLst>
      <p:ext uri="{BB962C8B-B14F-4D97-AF65-F5344CB8AC3E}">
        <p14:creationId xmlns:p14="http://schemas.microsoft.com/office/powerpoint/2010/main" val="1707865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D93ADF-7460-894C-BFB5-C060CE46A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Síntesis: las señales del catálogo permiten separar títulos por potencial global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DB05145-90F1-B048-BA93-3F84FE550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200" y="1811645"/>
            <a:ext cx="6827520" cy="418801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0F10B328-C413-534E-9040-E2DFBAF3849E}"/>
              </a:ext>
            </a:extLst>
          </p:cNvPr>
          <p:cNvSpPr/>
          <p:nvPr/>
        </p:nvSpPr>
        <p:spPr>
          <a:xfrm>
            <a:off x="2032000" y="6120616"/>
            <a:ext cx="83921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/>
              <a:t>El modelo asigna scores claramente diferenciados, lo que permite priorizar títulos con mayor potencial global antes del lanzamiento.</a:t>
            </a:r>
          </a:p>
        </p:txBody>
      </p:sp>
    </p:spTree>
    <p:extLst>
      <p:ext uri="{BB962C8B-B14F-4D97-AF65-F5344CB8AC3E}">
        <p14:creationId xmlns:p14="http://schemas.microsoft.com/office/powerpoint/2010/main" val="3583569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E52528-3052-8F45-BDC8-AB94A7FED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s-CL" sz="3600" dirty="0"/>
              <a:t>Qué palabras están asociadas a mayor o menor probabilidad de alcance global</a:t>
            </a:r>
            <a:endParaRPr lang="es-CL" sz="340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A3091C9-A1E1-C545-875B-3BF95D4A430C}"/>
              </a:ext>
            </a:extLst>
          </p:cNvPr>
          <p:cNvSpPr/>
          <p:nvPr/>
        </p:nvSpPr>
        <p:spPr>
          <a:xfrm>
            <a:off x="2426368" y="5735321"/>
            <a:ext cx="7894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L" dirty="0"/>
              <a:t>Ciertos términos muestran asociaciones consistentes con la probabilidad estimada de alcance global, aportando interpretabilidad a la señal textual del modelo.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0F97843-C04B-CD4C-9A6B-CC18E012F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4946" y="1347788"/>
            <a:ext cx="7306263" cy="43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2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9EDA3C-161B-4945-99A7-1EA6D8C9C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Recomendación accionable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8DA054-6B38-3544-BB60-408AD0A2B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0" y="2221865"/>
            <a:ext cx="6751320" cy="43513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Integrar un score de “potencial global” en las etapas tempranas de evaluación de contenido, utilizando señales textuales y estructurales del catálogo para priorizar decisiones de adquisición, promoción y posicionamiento antes del lanzamiento.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71301C-D994-AF4A-855C-EBC52088A18D}"/>
              </a:ext>
            </a:extLst>
          </p:cNvPr>
          <p:cNvSpPr/>
          <p:nvPr/>
        </p:nvSpPr>
        <p:spPr>
          <a:xfrm>
            <a:off x="746760" y="519371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L" dirty="0"/>
              <a:t>Este score debe complementar, y no reemplazar, el criterio editorial.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ED2DDAF-0BF5-8540-BBC5-02491E556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2407761"/>
            <a:ext cx="4660038" cy="310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5857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1313</Words>
  <Application>Microsoft Macintosh PowerPoint</Application>
  <PresentationFormat>Widescreen</PresentationFormat>
  <Paragraphs>92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Helvetica Neue</vt:lpstr>
      <vt:lpstr>Tema de Office</vt:lpstr>
      <vt:lpstr>PowerPoint Presentation</vt:lpstr>
      <vt:lpstr>“Los títulos con mayor potencial global comparten patrones textuales, geográficos y temáticos que pueden anticiparse con modelos de Machine Learning.”</vt:lpstr>
      <vt:lpstr>¿Por qué algunos títulos se vuelven globales y otros no?</vt:lpstr>
      <vt:lpstr>EDA: La diversidad de países en una producción revela qué industrias lideran el contenido internacional</vt:lpstr>
      <vt:lpstr>EDA 2: La internacionalización no solo existe: se intensifica con el tiempo.</vt:lpstr>
      <vt:lpstr>EDAb 3 Los patrones existen; la pregunta ahora es si pueden usarse para anticipar el éxito global.</vt:lpstr>
      <vt:lpstr>El lenguaje no es neutral: los términos utilizados en la descripción están estadísticamente asociados a una mayor probabilidad de alcance global.</vt:lpstr>
      <vt:lpstr>Síntesis: las señales del catálogo permiten separar títulos por potencial global</vt:lpstr>
      <vt:lpstr>Qué palabras están asociadas a mayor o menor probabilidad de alcance global</vt:lpstr>
      <vt:lpstr>Recomendación accionable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“¿Qué hace que un título explote globalmente? Identificando señales predictivas con Machine Learning en el catálogo de Netflix?” </dc:title>
  <dc:creator>Paola Alejandra Sánchez Puentes</dc:creator>
  <cp:lastModifiedBy>Ricardo Francisco Castro Vera</cp:lastModifiedBy>
  <cp:revision>19</cp:revision>
  <dcterms:created xsi:type="dcterms:W3CDTF">2025-12-10T20:19:41Z</dcterms:created>
  <dcterms:modified xsi:type="dcterms:W3CDTF">2025-12-12T01:10:22Z</dcterms:modified>
</cp:coreProperties>
</file>